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1550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62088" cy="144475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5890074" cy="3354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sz="1700" b="1" dirty="0" err="1">
                <a:solidFill>
                  <a:schemeClr val="bg1"/>
                </a:solidFill>
                <a:latin typeface="Microsoft JhengHei"/>
              </a:rPr>
              <a:t>基於</a:t>
            </a:r>
            <a:r>
              <a:rPr sz="1700" b="1" dirty="0">
                <a:solidFill>
                  <a:schemeClr val="bg1"/>
                </a:solidFill>
                <a:latin typeface="Microsoft JhengHei"/>
              </a:rPr>
              <a:t> </a:t>
            </a:r>
            <a:r>
              <a:rPr sz="1700" b="1" dirty="0" err="1">
                <a:solidFill>
                  <a:schemeClr val="bg1"/>
                </a:solidFill>
                <a:latin typeface="Microsoft JhengHei"/>
              </a:rPr>
              <a:t>XGBoost</a:t>
            </a:r>
            <a:r>
              <a:rPr sz="1700" b="1" dirty="0">
                <a:solidFill>
                  <a:schemeClr val="bg1"/>
                </a:solidFill>
                <a:latin typeface="Microsoft JhengHei"/>
              </a:rPr>
              <a:t> </a:t>
            </a:r>
            <a:r>
              <a:rPr sz="1700" b="1" dirty="0" err="1">
                <a:solidFill>
                  <a:schemeClr val="bg1"/>
                </a:solidFill>
                <a:latin typeface="Microsoft JhengHei"/>
              </a:rPr>
              <a:t>演算法之職棒球員打席內</a:t>
            </a:r>
            <a:r>
              <a:rPr lang="zh-TW" altLang="en-US" sz="1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上壘機率</a:t>
            </a:r>
            <a:r>
              <a:rPr sz="1700" b="1" dirty="0" err="1">
                <a:solidFill>
                  <a:schemeClr val="bg1"/>
                </a:solidFill>
                <a:latin typeface="Microsoft JhengHei"/>
              </a:rPr>
              <a:t>預測建模</a:t>
            </a:r>
            <a:endParaRPr sz="1700" b="1" dirty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585216"/>
            <a:ext cx="5809411" cy="221599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r>
              <a:rPr sz="960" b="1" dirty="0" err="1">
                <a:solidFill>
                  <a:schemeClr val="bg1"/>
                </a:solidFill>
                <a:latin typeface="Aptos"/>
              </a:rPr>
              <a:t>XGBoost</a:t>
            </a:r>
            <a:r>
              <a:rPr sz="960" b="1" dirty="0">
                <a:solidFill>
                  <a:schemeClr val="bg1"/>
                </a:solidFill>
                <a:latin typeface="Aptos"/>
              </a:rPr>
              <a:t>-Based Modeling of In-At-Bat </a:t>
            </a:r>
            <a:r>
              <a:rPr lang="en-US" sz="960" b="1" dirty="0">
                <a:solidFill>
                  <a:schemeClr val="bg1"/>
                </a:solidFill>
                <a:latin typeface="Aptos"/>
              </a:rPr>
              <a:t>On-Base Percentage</a:t>
            </a:r>
            <a:r>
              <a:rPr sz="960" b="1" dirty="0">
                <a:solidFill>
                  <a:schemeClr val="bg1"/>
                </a:solidFill>
                <a:latin typeface="Aptos"/>
              </a:rPr>
              <a:t> Prediction for Professional Baseball Players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32688"/>
            <a:ext cx="5105693" cy="204671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sz="850" b="0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  </a:t>
            </a:r>
            <a:r>
              <a:rPr lang="zh-TW" altLang="en-US"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楊竣凱</a:t>
            </a: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｜ </a:t>
            </a:r>
            <a:r>
              <a:rPr sz="850" b="0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指導教授</a:t>
            </a: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陳弘軒教授</a:t>
            </a: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｜ </a:t>
            </a:r>
            <a:r>
              <a:rPr sz="850" b="0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執行期間</a:t>
            </a: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：[YYYY.MM–YYYY.MM]  ｜ GitHub：[</a:t>
            </a:r>
            <a:r>
              <a:rPr sz="850" b="0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專案連結</a:t>
            </a:r>
            <a:r>
              <a:rPr sz="850" b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9576"/>
            <a:ext cx="1179576" cy="210312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" y="1184148"/>
            <a:ext cx="114300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icrosoft JhengHei"/>
              </a:rPr>
              <a:t>Machine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36776" y="1179576"/>
            <a:ext cx="809244" cy="210312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5064" y="1184148"/>
            <a:ext cx="772668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icrosoft JhengHei"/>
              </a:rPr>
              <a:t>XGBoost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9172" y="1179576"/>
            <a:ext cx="1303019" cy="210312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7460" y="1184148"/>
            <a:ext cx="1266443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icrosoft JhengHei"/>
              </a:rPr>
              <a:t>Feature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5344" y="1179576"/>
            <a:ext cx="850392" cy="210312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13631" y="1184148"/>
            <a:ext cx="813815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icrosoft JhengHei"/>
              </a:rPr>
              <a:t>TreeSHAP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18888" y="1179576"/>
            <a:ext cx="1179576" cy="210312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7175" y="1184148"/>
            <a:ext cx="1143000" cy="16459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FFFFFF"/>
                </a:solidFill>
                <a:latin typeface="Microsoft JhengHei"/>
              </a:rPr>
              <a:t>Sports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6321" y="901439"/>
            <a:ext cx="1325880" cy="487177"/>
          </a:xfrm>
          <a:prstGeom prst="roundRect">
            <a:avLst>
              <a:gd name="adj" fmla="val 8000"/>
            </a:avLst>
          </a:prstGeom>
          <a:solidFill>
            <a:srgbClr val="F29923"/>
          </a:solidFill>
          <a:ln>
            <a:solidFill>
              <a:srgbClr val="F2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5738716" y="1004667"/>
            <a:ext cx="214001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dirty="0">
                <a:solidFill>
                  <a:srgbClr val="0B1F3A"/>
                </a:solidFill>
                <a:latin typeface="Microsoft JhengHei"/>
              </a:rPr>
              <a:t>獲 115 </a:t>
            </a:r>
            <a:r>
              <a:rPr sz="900" b="1" dirty="0" err="1">
                <a:solidFill>
                  <a:srgbClr val="0B1F3A"/>
                </a:solidFill>
                <a:latin typeface="Microsoft JhengHei"/>
              </a:rPr>
              <a:t>年度國科會</a:t>
            </a:r>
            <a:endParaRPr sz="900" b="1" dirty="0">
              <a:solidFill>
                <a:srgbClr val="0B1F3A"/>
              </a:solidFill>
              <a:latin typeface="Microsoft JhengHei"/>
            </a:endParaRPr>
          </a:p>
          <a:p>
            <a:pPr algn="ctr">
              <a:spcAft>
                <a:spcPts val="0"/>
              </a:spcAft>
            </a:pPr>
            <a:r>
              <a:rPr sz="900" b="1" dirty="0" err="1">
                <a:solidFill>
                  <a:srgbClr val="0B1F3A"/>
                </a:solidFill>
                <a:latin typeface="Microsoft JhengHei"/>
              </a:rPr>
              <a:t>大專學生研究計畫補助</a:t>
            </a:r>
            <a:endParaRPr sz="900" b="1" dirty="0">
              <a:solidFill>
                <a:srgbClr val="0B1F3A"/>
              </a:solidFill>
              <a:latin typeface="Microsoft Jheng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4048" y="1600200"/>
            <a:ext cx="283464" cy="283464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1604772"/>
            <a:ext cx="283464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591056"/>
            <a:ext cx="6419088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研究痛點與目標｜Problem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1920240"/>
            <a:ext cx="6546792" cy="38933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dirty="0" err="1">
                <a:solidFill>
                  <a:srgbClr val="202A37"/>
                </a:solidFill>
                <a:latin typeface="Microsoft JhengHei"/>
              </a:rPr>
              <a:t>傳統打擊率與賽季</a:t>
            </a:r>
            <a:r>
              <a:rPr sz="930" b="0" dirty="0">
                <a:solidFill>
                  <a:srgbClr val="202A37"/>
                </a:solidFill>
                <a:latin typeface="Microsoft JhengHei"/>
              </a:rPr>
              <a:t> OBP </a:t>
            </a:r>
            <a:r>
              <a:rPr sz="930" b="0" dirty="0" err="1">
                <a:solidFill>
                  <a:srgbClr val="202A37"/>
                </a:solidFill>
                <a:latin typeface="Microsoft JhengHei"/>
              </a:rPr>
              <a:t>是事後彙總指標，無法描述打席進行中的即時風險。本研究整合球數、壘況、投打能力與前球序列</a:t>
            </a:r>
            <a:r>
              <a:rPr sz="930" b="0" dirty="0">
                <a:solidFill>
                  <a:srgbClr val="202A37"/>
                </a:solidFill>
                <a:latin typeface="Microsoft JhengHei"/>
              </a:rPr>
              <a:t>，</a:t>
            </a:r>
            <a:endParaRPr lang="en-US" sz="930" b="0" dirty="0">
              <a:solidFill>
                <a:srgbClr val="202A37"/>
              </a:solidFill>
              <a:latin typeface="Microsoft JhengHei"/>
            </a:endParaRPr>
          </a:p>
          <a:p>
            <a:pPr algn="l">
              <a:lnSpc>
                <a:spcPct val="115000"/>
              </a:lnSpc>
            </a:pPr>
            <a:r>
              <a:rPr sz="930" b="0" dirty="0" err="1">
                <a:solidFill>
                  <a:srgbClr val="202A37"/>
                </a:solidFill>
                <a:latin typeface="Microsoft JhengHei"/>
              </a:rPr>
              <a:t>在每一球投出前預測該打席最終正式上壘機率，並提供可校準、可解釋的互動決策介面</a:t>
            </a:r>
            <a:r>
              <a:rPr sz="930" b="0" dirty="0">
                <a:solidFill>
                  <a:srgbClr val="202A37"/>
                </a:solidFill>
                <a:latin typeface="Microsoft JhengHei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2542032"/>
            <a:ext cx="283464" cy="283464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546603"/>
            <a:ext cx="283464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532888"/>
            <a:ext cx="6419088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資料與模型管線｜Leakage-safe ML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871216"/>
            <a:ext cx="12252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2871216"/>
            <a:ext cx="1225296" cy="219456"/>
          </a:xfrm>
          <a:prstGeom prst="rect">
            <a:avLst/>
          </a:prstGeom>
          <a:solidFill>
            <a:srgbClr val="205B96"/>
          </a:solidFill>
          <a:ln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2880360"/>
            <a:ext cx="1170432" cy="19202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154680"/>
            <a:ext cx="1115568" cy="5760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>
                <a:solidFill>
                  <a:srgbClr val="202A37"/>
                </a:solidFill>
                <a:latin typeface="Microsoft JhengHei"/>
              </a:rPr>
              <a:t>Statcast 2021–24
3.03M 逐球列
實驗使用 2021–23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3060" y="3218688"/>
            <a:ext cx="10058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B6978"/>
                </a:solidFill>
                <a:latin typeface="Microsoft Jheng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28216" y="2871216"/>
            <a:ext cx="12252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728216" y="2871216"/>
            <a:ext cx="1225296" cy="219456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55648" y="2880360"/>
            <a:ext cx="1170432" cy="19202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CLEAN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3154680"/>
            <a:ext cx="1115568" cy="5760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>
                <a:solidFill>
                  <a:srgbClr val="202A37"/>
                </a:solidFill>
                <a:latin typeface="Microsoft JhengHei"/>
              </a:rPr>
              <a:t>明確 OBP 標籤
Median Imputation
固定類別編碼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7228" y="3218688"/>
            <a:ext cx="10058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B6978"/>
                </a:solidFill>
                <a:latin typeface="Microsoft Jheng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72384" y="2871216"/>
            <a:ext cx="12252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2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072384" y="2871216"/>
            <a:ext cx="1225296" cy="219456"/>
          </a:xfrm>
          <a:prstGeom prst="rect">
            <a:avLst/>
          </a:prstGeom>
          <a:solidFill>
            <a:srgbClr val="F29923"/>
          </a:solidFill>
          <a:ln>
            <a:solidFill>
              <a:srgbClr val="F29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99816" y="2880360"/>
            <a:ext cx="1170432" cy="19202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FEATURE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7248" y="3154680"/>
            <a:ext cx="1115568" cy="5760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>
                <a:solidFill>
                  <a:srgbClr val="202A37"/>
                </a:solidFill>
                <a:latin typeface="Microsoft JhengHei"/>
              </a:rPr>
              <a:t>141 → 97 features
平滑歷史＋前球序列
每 PA 權重=1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1396" y="3218688"/>
            <a:ext cx="10058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B6978"/>
                </a:solidFill>
                <a:latin typeface="Microsoft JhengHe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16552" y="2871216"/>
            <a:ext cx="12252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16552" y="2871216"/>
            <a:ext cx="1225296" cy="219456"/>
          </a:xfrm>
          <a:prstGeom prst="rect">
            <a:avLst/>
          </a:prstGeom>
          <a:solidFill>
            <a:srgbClr val="205B96"/>
          </a:solidFill>
          <a:ln>
            <a:solidFill>
              <a:srgbClr val="2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43984" y="2880360"/>
            <a:ext cx="1170432" cy="19202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1416" y="3154680"/>
            <a:ext cx="1115568" cy="5760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>
                <a:solidFill>
                  <a:srgbClr val="202A37"/>
                </a:solidFill>
                <a:latin typeface="Microsoft JhengHei"/>
              </a:rPr>
              <a:t>4 模型比較
20 組參數搜尋
Early Stop=50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5564" y="3218688"/>
            <a:ext cx="100584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B6978"/>
                </a:solidFill>
                <a:latin typeface="Microsoft JhengHe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2871216"/>
            <a:ext cx="12252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60720" y="2871216"/>
            <a:ext cx="1225296" cy="219456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88152" y="2880360"/>
            <a:ext cx="1170432" cy="19202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154680"/>
            <a:ext cx="1115568" cy="57607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>
                <a:solidFill>
                  <a:srgbClr val="202A37"/>
                </a:solidFill>
                <a:latin typeface="Microsoft JhengHei"/>
              </a:rPr>
              <a:t>最終上壘機率
Calibration＋TreeSHAP
Streamlit / MLB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3840480"/>
            <a:ext cx="65379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B1F3A"/>
                </a:solidFill>
                <a:latin typeface="Microsoft JhengHei"/>
              </a:rPr>
              <a:t>時間切分：2021 Train → 2022 H1 Validation → 2022 H2 Calibration → 2023 Test（完全 out-of-time）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" y="4160520"/>
            <a:ext cx="283464" cy="283464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4048" y="4165091"/>
            <a:ext cx="283464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151376"/>
            <a:ext cx="2926080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特徵工程與優化｜Engineering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048" y="4489704"/>
            <a:ext cx="3273552" cy="2852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4617720"/>
            <a:ext cx="2944368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時間防洩漏｜</a:t>
            </a:r>
            <a:r>
              <a:rPr sz="850" b="0">
                <a:solidFill>
                  <a:srgbClr val="202A37"/>
                </a:solidFill>
                <a:latin typeface="Microsoft JhengHei"/>
              </a:rPr>
              <a:t>所有歷史／rolling／前球特徵先 shift；球員狀態跨年度延續。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高價值特徵｜</a:t>
            </a:r>
            <a:r>
              <a:rPr sz="850" b="0">
                <a:solidFill>
                  <a:srgbClr val="202A37"/>
                </a:solidFill>
                <a:latin typeface="Microsoft JhengHei"/>
              </a:rPr>
              <a:t>前一球基本結果、固定球數狀態、投手當場負荷與 50/100 PA 近期 OBP。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投打 Matchup｜</a:t>
            </a:r>
            <a:r>
              <a:rPr sz="850" b="0">
                <a:solidFill>
                  <a:srgbClr val="202A37"/>
                </a:solidFill>
                <a:latin typeface="Microsoft JhengHei"/>
              </a:rPr>
              <a:t>左右投打分項＋fastball / breaking / offspeed / other 使用率與揮空率。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小樣本平滑｜</a:t>
            </a:r>
            <a:r>
              <a:rPr sz="850" b="0">
                <a:solidFill>
                  <a:srgbClr val="202A37"/>
                </a:solidFill>
                <a:latin typeface="Microsoft JhengHei"/>
              </a:rPr>
              <a:t>聯盟先驗降低新人歷史平均的高變異，並以 log1p(PA/BF) 表示可信度。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不平衡處理｜</a:t>
            </a:r>
            <a:r>
              <a:rPr sz="850" b="0">
                <a:solidFill>
                  <a:srgbClr val="202A37"/>
                </a:solidFill>
                <a:latin typeface="Microsoft JhengHei"/>
              </a:rPr>
              <a:t>保留真實 base rate，不使用 SMOTE；每打席所有球的總權重固定為 1，維持機率校準。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模型優化｜</a:t>
            </a:r>
            <a:r>
              <a:rPr sz="850" b="0">
                <a:solidFill>
                  <a:srgbClr val="202A37"/>
                </a:solidFill>
                <a:latin typeface="Microsoft JhengHei"/>
              </a:rPr>
              <a:t>Random Search 20 trials；最佳 depth=6、learning rate=.101、53 rounds；141→97 特徵。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4160520"/>
            <a:ext cx="283464" cy="283464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40480" y="4165091"/>
            <a:ext cx="283464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7952" y="4151376"/>
            <a:ext cx="2962656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模型績效與解釋｜Results &amp; Explainability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840480" y="4489704"/>
            <a:ext cx="3310128" cy="2852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986784" y="4617720"/>
            <a:ext cx="713232" cy="621792"/>
          </a:xfrm>
          <a:prstGeom prst="roundRect">
            <a:avLst>
              <a:gd name="adj" fmla="val 8000"/>
            </a:avLst>
          </a:prstGeom>
          <a:solidFill>
            <a:srgbClr val="E2EFF9"/>
          </a:solidFill>
          <a:ln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86784" y="4681728"/>
            <a:ext cx="7132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.6095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4" y="4956048"/>
            <a:ext cx="71323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5B6978"/>
                </a:solidFill>
                <a:latin typeface="Microsoft JhengHei"/>
              </a:rPr>
              <a:t>ROC AUC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45736" y="4617720"/>
            <a:ext cx="713232" cy="621792"/>
          </a:xfrm>
          <a:prstGeom prst="roundRect">
            <a:avLst>
              <a:gd name="adj" fmla="val 8000"/>
            </a:avLst>
          </a:prstGeom>
          <a:solidFill>
            <a:srgbClr val="E2EFF9"/>
          </a:solidFill>
          <a:ln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45736" y="4681728"/>
            <a:ext cx="7132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.6059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45736" y="4956048"/>
            <a:ext cx="71323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5B6978"/>
                </a:solidFill>
                <a:latin typeface="Microsoft JhengHei"/>
              </a:rPr>
              <a:t>Log Loss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04688" y="4617720"/>
            <a:ext cx="713232" cy="621792"/>
          </a:xfrm>
          <a:prstGeom prst="roundRect">
            <a:avLst>
              <a:gd name="adj" fmla="val 8000"/>
            </a:avLst>
          </a:prstGeom>
          <a:solidFill>
            <a:srgbClr val="E2EFF9"/>
          </a:solidFill>
          <a:ln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04688" y="4681728"/>
            <a:ext cx="7132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.2084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4688" y="4956048"/>
            <a:ext cx="71323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5B6978"/>
                </a:solidFill>
                <a:latin typeface="Microsoft JhengHei"/>
              </a:rPr>
              <a:t>Brier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63640" y="4617720"/>
            <a:ext cx="713232" cy="621792"/>
          </a:xfrm>
          <a:prstGeom prst="roundRect">
            <a:avLst>
              <a:gd name="adj" fmla="val 8000"/>
            </a:avLst>
          </a:prstGeom>
          <a:solidFill>
            <a:srgbClr val="E2EFF9"/>
          </a:solidFill>
          <a:ln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63640" y="4681728"/>
            <a:ext cx="713232" cy="2468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.0061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4956048"/>
            <a:ext cx="71323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5B6978"/>
                </a:solidFill>
                <a:latin typeface="Microsoft JhengHei"/>
              </a:rPr>
              <a:t>ECE</a:t>
            </a:r>
          </a:p>
        </p:txBody>
      </p:sp>
      <p:pic>
        <p:nvPicPr>
          <p:cNvPr id="71" name="Picture 70" descr="resume_local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5358384"/>
            <a:ext cx="3063240" cy="16002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977639" y="6976872"/>
            <a:ext cx="301752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B6978"/>
                </a:solidFill>
                <a:latin typeface="Microsoft JhengHei"/>
              </a:rPr>
              <a:t>藍色提高、紅色降低預測；SHAP 解釋模型判斷，不代表因果。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68496" y="7150608"/>
            <a:ext cx="3054096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1F3A"/>
                </a:solidFill>
                <a:latin typeface="Microsoft JhengHei"/>
              </a:rPr>
              <a:t>核心洞見｜球數演進與前一球結果主導模型；球員能力與球種 matchup 進一步微調。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4048" y="7470648"/>
            <a:ext cx="283464" cy="283464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84048" y="7475220"/>
            <a:ext cx="283464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7461504"/>
            <a:ext cx="6419088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模型比較與研究判讀｜Model Selection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4048" y="7799831"/>
            <a:ext cx="6766560" cy="822960"/>
          </a:xfrm>
          <a:prstGeom prst="roundRect">
            <a:avLst>
              <a:gd name="adj" fmla="val 8000"/>
            </a:avLst>
          </a:prstGeom>
          <a:solidFill>
            <a:srgbClr val="E2F6F4"/>
          </a:solidFill>
          <a:ln>
            <a:solidFill>
              <a:srgbClr val="E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7784" y="7918704"/>
            <a:ext cx="1234440" cy="1737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1F3A"/>
                </a:solidFill>
                <a:latin typeface="Microsoft JhengHei"/>
              </a:rPr>
              <a:t>Logistic Regression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7918704"/>
            <a:ext cx="713232" cy="1737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1F3A"/>
                </a:solidFill>
                <a:latin typeface="Microsoft JhengHei"/>
              </a:rPr>
              <a:t>HGB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70632" y="7918704"/>
            <a:ext cx="1024128" cy="17373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1">
                <a:solidFill>
                  <a:srgbClr val="0B1F3A"/>
                </a:solidFill>
                <a:latin typeface="Microsoft JhengHei"/>
              </a:rPr>
              <a:t>Random Forest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41063" y="7891272"/>
            <a:ext cx="89611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XGBoost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931920" y="7845552"/>
            <a:ext cx="914400" cy="292608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941063" y="7891272"/>
            <a:ext cx="89611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FFFF"/>
                </a:solidFill>
                <a:latin typeface="Microsoft JhengHei"/>
              </a:rPr>
              <a:t>XGBoost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7784" y="8174736"/>
            <a:ext cx="1234440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5B6978"/>
                </a:solidFill>
                <a:latin typeface="Microsoft JhengHei"/>
              </a:rPr>
              <a:t>Test Log Loss：.6091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8174736"/>
            <a:ext cx="713232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5B6978"/>
                </a:solidFill>
                <a:latin typeface="Microsoft JhengHei"/>
              </a:rPr>
              <a:t>.6060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70632" y="8174736"/>
            <a:ext cx="1024128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5B6978"/>
                </a:solidFill>
                <a:latin typeface="Microsoft JhengHei"/>
              </a:rPr>
              <a:t>.6052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86200" y="8174736"/>
            <a:ext cx="1051560" cy="1554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009696"/>
                </a:solidFill>
                <a:latin typeface="Microsoft JhengHei"/>
              </a:rPr>
              <a:t>.6059｜2.57 s train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52944" y="7981283"/>
            <a:ext cx="2225096" cy="29546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dirty="0" err="1">
                <a:solidFill>
                  <a:srgbClr val="202A37"/>
                </a:solidFill>
                <a:latin typeface="Microsoft JhengHei"/>
              </a:rPr>
              <a:t>選擇理由：與最佳測試表現近似，但訓練／推論最快</a:t>
            </a:r>
            <a:endParaRPr lang="en-US" sz="720" b="1" dirty="0">
              <a:solidFill>
                <a:srgbClr val="202A37"/>
              </a:solidFill>
              <a:latin typeface="Microsoft JhengHei"/>
            </a:endParaRPr>
          </a:p>
          <a:p>
            <a:pPr algn="l">
              <a:lnSpc>
                <a:spcPct val="100000"/>
              </a:lnSpc>
            </a:pPr>
            <a:r>
              <a:rPr sz="720" b="1" dirty="0">
                <a:solidFill>
                  <a:srgbClr val="202A37"/>
                </a:solidFill>
                <a:latin typeface="Microsoft JhengHei"/>
              </a:rPr>
              <a:t>、</a:t>
            </a:r>
            <a:r>
              <a:rPr sz="720" b="1" dirty="0" err="1">
                <a:solidFill>
                  <a:srgbClr val="202A37"/>
                </a:solidFill>
                <a:latin typeface="Microsoft JhengHei"/>
              </a:rPr>
              <a:t>支援</a:t>
            </a:r>
            <a:r>
              <a:rPr sz="720" b="1" dirty="0">
                <a:solidFill>
                  <a:srgbClr val="202A37"/>
                </a:solidFill>
                <a:latin typeface="Microsoft JhengHei"/>
              </a:rPr>
              <a:t> sample </a:t>
            </a:r>
            <a:r>
              <a:rPr sz="720" b="1" dirty="0" err="1">
                <a:solidFill>
                  <a:srgbClr val="202A37"/>
                </a:solidFill>
                <a:latin typeface="Microsoft JhengHei"/>
              </a:rPr>
              <a:t>weight、JSON</a:t>
            </a:r>
            <a:r>
              <a:rPr sz="720" b="1" dirty="0">
                <a:solidFill>
                  <a:srgbClr val="202A37"/>
                </a:solidFill>
                <a:latin typeface="Microsoft JhengHei"/>
              </a:rPr>
              <a:t> </a:t>
            </a:r>
            <a:r>
              <a:rPr sz="720" b="1" dirty="0" err="1">
                <a:solidFill>
                  <a:srgbClr val="202A37"/>
                </a:solidFill>
                <a:latin typeface="Microsoft JhengHei"/>
              </a:rPr>
              <a:t>部署與</a:t>
            </a:r>
            <a:r>
              <a:rPr sz="720" b="1" dirty="0">
                <a:solidFill>
                  <a:srgbClr val="202A37"/>
                </a:solidFill>
                <a:latin typeface="Microsoft JhengHei"/>
              </a:rPr>
              <a:t> </a:t>
            </a:r>
            <a:r>
              <a:rPr sz="720" b="1" dirty="0" err="1">
                <a:solidFill>
                  <a:srgbClr val="202A37"/>
                </a:solidFill>
                <a:latin typeface="Microsoft JhengHei"/>
              </a:rPr>
              <a:t>TreeSHAP</a:t>
            </a:r>
            <a:r>
              <a:rPr sz="720" b="1" dirty="0">
                <a:solidFill>
                  <a:srgbClr val="202A37"/>
                </a:solidFill>
                <a:latin typeface="Microsoft JhengHei"/>
              </a:rPr>
              <a:t>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84048" y="8759952"/>
            <a:ext cx="283464" cy="283464"/>
          </a:xfrm>
          <a:prstGeom prst="roundRect">
            <a:avLst>
              <a:gd name="adj" fmla="val 8000"/>
            </a:avLst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4048" y="8764524"/>
            <a:ext cx="283464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8750808"/>
            <a:ext cx="6419088" cy="31089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F3A"/>
                </a:solidFill>
                <a:latin typeface="Microsoft JhengHei"/>
              </a:rPr>
              <a:t>研究延伸與研究所銜接｜Future Work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84048" y="9089136"/>
            <a:ext cx="6766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548640" y="9235440"/>
            <a:ext cx="3090672" cy="713232"/>
          </a:xfrm>
          <a:prstGeom prst="roundRect">
            <a:avLst>
              <a:gd name="adj" fmla="val 8000"/>
            </a:avLst>
          </a:prstGeom>
          <a:solidFill>
            <a:srgbClr val="E2EFF9"/>
          </a:solidFill>
          <a:ln>
            <a:solidFill>
              <a:srgbClr val="E2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5800" y="9308592"/>
            <a:ext cx="114300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05B96"/>
                </a:solidFill>
                <a:latin typeface="Microsoft JhengHei"/>
              </a:rPr>
              <a:t>Temporal Modeling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9500616"/>
            <a:ext cx="2724912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202A37"/>
                </a:solidFill>
                <a:latin typeface="Microsoft JhengHei"/>
              </a:rPr>
              <a:t>以 Transformer / sequence model 捕捉跨賽季狀態與投球序列；採 rolling-origin validation 驗證 drift。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76472" y="9235440"/>
            <a:ext cx="3209544" cy="713232"/>
          </a:xfrm>
          <a:prstGeom prst="roundRect">
            <a:avLst>
              <a:gd name="adj" fmla="val 8000"/>
            </a:avLst>
          </a:prstGeom>
          <a:solidFill>
            <a:srgbClr val="E2F6F4"/>
          </a:solidFill>
          <a:ln>
            <a:solidFill>
              <a:srgbClr val="E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913632" y="9308592"/>
            <a:ext cx="201168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09696"/>
                </a:solidFill>
                <a:latin typeface="Microsoft JhengHei"/>
              </a:rPr>
              <a:t>Relational &amp; Trustworthy AI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13632" y="9500616"/>
            <a:ext cx="2807208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202A37"/>
                </a:solidFill>
                <a:latin typeface="Microsoft JhengHei"/>
              </a:rPr>
              <a:t>以 GNN 建模投手–打者–球種關聯；加入 subgroup calibration、SHAP stability 與不確定性評估。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" y="10268712"/>
            <a:ext cx="676656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FFFF"/>
                </a:solidFill>
                <a:latin typeface="Microsoft JhengHei"/>
              </a:rPr>
              <a:t>適配領域｜智慧科學・資料科學・機器學習・可解釋 AI・時序建模・Sports Analytics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2608" y="10222992"/>
            <a:ext cx="6976872" cy="310896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84048" y="10268712"/>
            <a:ext cx="676656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FFFF"/>
                </a:solidFill>
                <a:latin typeface="Microsoft JhengHei"/>
              </a:rPr>
              <a:t>適配領域｜智慧科學・資料科學・機器學習・可解釋 AI・時序建模・Sports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405</Words>
  <Application>Microsoft Office PowerPoint</Application>
  <PresentationFormat>自訂</PresentationFormat>
  <Paragraphs>72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Microsoft JhengHei</vt:lpstr>
      <vt:lpstr>Microsoft JhengHei</vt:lpstr>
      <vt:lpstr>Aptos</vt:lpstr>
      <vt:lpstr>Arial</vt:lpstr>
      <vt:lpstr>Calibri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Yang</cp:lastModifiedBy>
  <cp:revision>2</cp:revision>
  <dcterms:created xsi:type="dcterms:W3CDTF">2013-01-27T09:14:16Z</dcterms:created>
  <dcterms:modified xsi:type="dcterms:W3CDTF">2026-08-14T13:40:06Z</dcterms:modified>
  <cp:category/>
</cp:coreProperties>
</file>